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4E749C"/>
          </a:solidFill>
          <a:ln>
            <a:solidFill>
              <a:srgbClr val="4E74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Day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Advanced Queries, Calculations, and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AF2"/>
                </a:solidFill>
                <a:latin typeface="Calibri"/>
              </a:rPr>
              <a:t>Theory-only trainer deck with diagrams, examples, and recap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Advanced Queries, Calculations, and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0642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Create calculated measures and members for business-friendly analytics.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Understand named sets and reusable MDX logic.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Design practical KPIs for production, cost, and safety monitoring.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Use time-based calculations to support trend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1645920"/>
            <a:ext cx="2971800" cy="274320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659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56032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v3_assmang_mining_complete.sql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9184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212B36"/>
                </a:solidFill>
                <a:latin typeface="Calibri"/>
              </a:rPr>
              <a:t>Business context: Assmang mining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Calculated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Advanced Queries, Calculations, and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Calculated measures derive new business insight without changing the source fact table.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Examples include cost per tonne, revenue variance, and tonnes per employee.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These measures should be clearly named and documented for users.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Named sets and reusable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Advanced Queries, Calculations, and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Named sets define reusable groups of members, such as top-performing mines or active operations.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They simplify repeated report logic and improve consistency.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KPIs in SSAS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Advanced Queries, Calculations, and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 KPI combines value, goal, status, and often trend.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At Assmang, KPIs can be created for safety score, production target attainment, or cost control.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KPIs help executives consume analytics visually and consistently.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Time-based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Advanced Queries, Calculations, and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74066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MDX calculations often compare current month to previous month, current year to previous year, or actual to target.</a:t>
            </a:r>
          </a:p>
          <a:p>
            <a:pPr/>
            <a:r>
              <a:rPr sz="1800">
                <a:solidFill>
                  <a:srgbClr val="212B36"/>
                </a:solidFill>
                <a:latin typeface="Calibri"/>
              </a:rPr>
              <a:t>This is where clean date hierarchies become especially valuable.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2743200" cy="4389120"/>
          </a:xfrm>
          <a:prstGeom prst="roundRect">
            <a:avLst/>
          </a:prstGeom>
          <a:solidFill>
            <a:srgbClr val="E6EDF5"/>
          </a:solidFill>
          <a:ln w="12700">
            <a:solidFill>
              <a:srgbClr val="5A8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63B52"/>
                </a:solidFill>
                <a:latin typeface="Calibri"/>
              </a:rPr>
              <a:t>Trainer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212B36"/>
                </a:solidFill>
                <a:latin typeface="Calibri"/>
              </a:rPr>
              <a:t>Connect this concept to the Assmang use case and validate it in the lab.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Architecture / Concept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Advanced Queries, Calculations, and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0972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263B52"/>
                </a:solidFill>
                <a:latin typeface="Courier New"/>
              </a:rPr>
              <a:t>Base Measure -&gt; Calculation Layer -&gt; KPI Status -&gt; Dashboard Consumer
RevenueZAR -&gt; Cost per Tonne -&gt; Green/Amber/Red -&gt; Power BI /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646E"/>
                </a:solidFill>
                <a:latin typeface="Calibri"/>
              </a:rPr>
              <a:t>Use this visual to explain the flow of structure, context, and analytical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Guided Lab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Advanced Queries, Calculations, and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09728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Create a calculated measure for `Cost Per Tonne` using total cost divided by tonnes produced.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Create a named set for the mines with above-average production.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Define a KPI for production target attainment using an assumed monthly target.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Browse the KPI values in the cube browser or SSMS query window.</a:t>
            </a:r>
          </a:p>
          <a:p>
            <a:pPr/>
            <a:r>
              <a:rPr sz="1700">
                <a:solidFill>
                  <a:srgbClr val="212B36"/>
                </a:solidFill>
                <a:latin typeface="Calibri"/>
              </a:rPr>
              <a:t>Document the business meaning of each calculation created.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263B52"/>
          </a:solidFill>
          <a:ln>
            <a:solidFill>
              <a:srgbClr val="263B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Recap and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29768"/>
            <a:ext cx="54864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DCE5F0"/>
                </a:solidFill>
                <a:latin typeface="Calibri"/>
              </a:rPr>
              <a:t>Advanced Queries, Calculations, and KPIs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69164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Key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9164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63B52"/>
                </a:solidFill>
                <a:latin typeface="Calibri"/>
              </a:rPr>
              <a:t>Avoid these mistakes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Create calculated measures and members for business-friendly analytics.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Understand named sets and reusable MDX logic.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Design practical KPIs for production, cost, and safety monitoring.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Skipping validation after deployment or processing.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Using weak business naming that confuses users.</a:t>
            </a:r>
          </a:p>
          <a:p>
            <a:pPr/>
            <a:r>
              <a:rPr sz="1500">
                <a:solidFill>
                  <a:srgbClr val="212B36"/>
                </a:solidFill>
                <a:latin typeface="Calibri"/>
              </a:rPr>
              <a:t>Designing objects without linking them to reporting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B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18288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Questions and Lab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7432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CDD9E8"/>
                </a:solidFill>
                <a:latin typeface="Calibri"/>
              </a:rPr>
              <a:t>Advanced Queries, Calculations, and KPIs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